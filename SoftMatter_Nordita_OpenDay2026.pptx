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media/image9.png" ContentType="image/png"/>
  <Override PartName="/ppt/media/image13.png" ContentType="image/png"/>
  <Override PartName="/ppt/media/image8.png" ContentType="image/png"/>
  <Override PartName="/ppt/media/image14.jpeg" ContentType="image/jpeg"/>
  <Override PartName="/ppt/media/image12.png" ContentType="image/png"/>
  <Override PartName="/ppt/media/image7.png" ContentType="image/png"/>
  <Override PartName="/ppt/media/image11.png" ContentType="image/png"/>
  <Override PartName="/ppt/media/image6.png" ContentType="image/png"/>
  <Override PartName="/ppt/media/image10.png" ContentType="image/png"/>
  <Override PartName="/ppt/media/image5.png" ContentType="image/png"/>
  <Override PartName="/ppt/media/image4.png" ContentType="image/png"/>
  <Override PartName="/ppt/media/image27.png" ContentType="image/png"/>
  <Override PartName="/ppt/media/image3.png" ContentType="image/png"/>
  <Override PartName="/ppt/media/image26.png" ContentType="image/png"/>
  <Override PartName="/ppt/media/image23.png" ContentType="image/png"/>
  <Override PartName="/ppt/media/image22.png" ContentType="image/png"/>
  <Override PartName="/ppt/media/image21.png" ContentType="image/png"/>
  <Override PartName="/ppt/media/image19.png" ContentType="image/png"/>
  <Override PartName="/ppt/media/image20.png" ContentType="image/png"/>
  <Override PartName="/ppt/media/image18.png" ContentType="image/png"/>
  <Override PartName="/ppt/media/image17.png" ContentType="image/png"/>
  <Override PartName="/ppt/media/image16.png" ContentType="image/png"/>
  <Override PartName="/ppt/media/image15.png" ContentType="image/png"/>
  <Override PartName="/ppt/media/image1.png" ContentType="image/png"/>
  <Override PartName="/ppt/media/image24.png" ContentType="image/png"/>
  <Override PartName="/ppt/media/image25.png" ContentType="image/png"/>
  <Override PartName="/ppt/media/image2.png" ContentType="image/png"/>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1071456A-DD80-4500-84C9-E737E16AB469}"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BA3845E-9AFD-4615-BB62-D1CEB38078C8}"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9C7142B-C85B-4BCB-8C06-99CC24DFE6C9}"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2559FFC6-0884-446C-A53A-9750188B5DC9}"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7B2DEC1F-E367-4DF3-BF58-65E6EC49D155}"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573DE40F-6333-4205-A966-5F0B9BF085BC}"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84880FB-0CCE-4BC1-B217-3480822A8334}"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2513EE54-FF95-4F58-AFFD-BD109850D8E5}"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75274EE-748C-4B86-8269-9FA11A157ACC}"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7FD05573-8E32-49B1-BA00-13578FCEDEC6}"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AE16FB2E-579D-4D75-8E40-003DF737A2B7}"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2743E942-7E71-4308-8E38-5BA70602AFBA}"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0CBDCEFA-549A-4318-B14F-AFAACA004A42}"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02370EB-5647-43F3-AAB6-5BC42C05A0DB}"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E1DB28C0-4934-4350-B7CB-7A028A6E50D8}"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A78CCBA0-6C53-4BDD-9094-1364D2607C89}"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4F964464-247C-419C-A1F4-6F6C5E8DEB04}"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518582CB-C7F2-4C9A-A537-AD50C5FF8B1F}"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18567599-1040-47AE-9A00-6AB808B66573}"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5C86D27-0AD8-4E4F-B6E5-DA7226A45ADF}"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200252DF-C1E8-404D-9AC2-8E5EC851B29A}"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8"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9"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F247319B-EA7B-4E30-8A0F-B3BFB2F576B1}"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7D48CD2B-4CE6-4337-8C8B-52B878F9DEE8}"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6"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1"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6B807228-C8CB-497F-95FF-B350493F33A1}"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p>
            <a:fld id="{353504ED-2715-4D48-939D-C70B0B12B769}"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7"/>
          </p:nvPr>
        </p:nvSpPr>
        <p:spPr/>
        <p:txBody>
          <a:bodyPr/>
          <a:p>
            <a:fld id="{49AB6245-8A62-44C1-AD66-CAB1CC399E9E}"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sldNum" idx="7"/>
          </p:nvPr>
        </p:nvSpPr>
        <p:spPr/>
        <p:txBody>
          <a:bodyPr/>
          <a:p>
            <a:fld id="{8A95CAB6-C628-4F4D-8F26-9DE9ED0ED727}"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9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7"/>
          </p:nvPr>
        </p:nvSpPr>
        <p:spPr/>
        <p:txBody>
          <a:bodyPr/>
          <a:p>
            <a:fld id="{7EA4A27E-59C5-4B8D-815B-CE7191712B4A}"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ldNum" idx="7"/>
          </p:nvPr>
        </p:nvSpPr>
        <p:spPr/>
        <p:txBody>
          <a:bodyPr/>
          <a:p>
            <a:fld id="{5FA61EB6-6188-4F64-82B2-A78E98298325}"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7"/>
          </p:nvPr>
        </p:nvSpPr>
        <p:spPr/>
        <p:txBody>
          <a:bodyPr/>
          <a:p>
            <a:fld id="{5994C483-5ACE-4EB4-B7AB-7610237A2298}"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9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7"/>
          </p:nvPr>
        </p:nvSpPr>
        <p:spPr/>
        <p:txBody>
          <a:bodyPr/>
          <a:p>
            <a:fld id="{81E83DC9-1BFA-4A4D-BBC6-20A47C3E28A5}"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0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7"/>
          </p:nvPr>
        </p:nvSpPr>
        <p:spPr/>
        <p:txBody>
          <a:bodyPr/>
          <a:p>
            <a:fld id="{B5FE9FFD-CA05-4616-A9EC-B41D240C9F67}"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7"/>
          </p:nvPr>
        </p:nvSpPr>
        <p:spPr/>
        <p:txBody>
          <a:bodyPr/>
          <a:p>
            <a:fld id="{3A400564-C446-4032-AF1E-12BB51FBD643}"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7"/>
          </p:nvPr>
        </p:nvSpPr>
        <p:spPr/>
        <p:txBody>
          <a:bodyPr/>
          <a:p>
            <a:fld id="{E857209A-8273-46DD-824E-664D26200261}"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sldNum" idx="7"/>
          </p:nvPr>
        </p:nvSpPr>
        <p:spPr/>
        <p:txBody>
          <a:bodyPr/>
          <a:p>
            <a:fld id="{EC13EFF1-F37B-4CFB-8D68-9EB4F8FD3794}"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sldNum" idx="7"/>
          </p:nvPr>
        </p:nvSpPr>
        <p:spPr/>
        <p:txBody>
          <a:bodyPr/>
          <a:p>
            <a:fld id="{638DA307-41A4-4834-B80A-AA0A1426DE68}"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913680" y="5883120"/>
            <a:ext cx="6672240" cy="36432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1" name="PlaceHolder 2"/>
          <p:cNvSpPr>
            <a:spLocks noGrp="1"/>
          </p:cNvSpPr>
          <p:nvPr>
            <p:ph type="sldNum" idx="2"/>
          </p:nvPr>
        </p:nvSpPr>
        <p:spPr>
          <a:xfrm>
            <a:off x="10514160" y="5883120"/>
            <a:ext cx="752760" cy="364320"/>
          </a:xfrm>
          <a:prstGeom prst="rect">
            <a:avLst/>
          </a:prstGeom>
          <a:noFill/>
          <a:ln w="0">
            <a:noFill/>
          </a:ln>
        </p:spPr>
        <p:txBody>
          <a:bodyPr lIns="90000" rIns="90000" tIns="45000" bIns="45000" anchor="ctr">
            <a:noAutofit/>
          </a:bodyPr>
          <a:lstStyle>
            <a:lvl1pPr algn="r">
              <a:lnSpc>
                <a:spcPct val="100000"/>
              </a:lnSpc>
              <a:buNone/>
              <a:defRPr b="0" lang="en-GB" sz="1000" spc="-1" strike="noStrike">
                <a:solidFill>
                  <a:srgbClr val="f2f2f2"/>
                </a:solidFill>
                <a:latin typeface="Calisto MT"/>
              </a:defRPr>
            </a:lvl1pPr>
          </a:lstStyle>
          <a:p>
            <a:pPr algn="r">
              <a:lnSpc>
                <a:spcPct val="100000"/>
              </a:lnSpc>
              <a:buNone/>
            </a:pPr>
            <a:fld id="{1FBBD87E-BF4C-4DB6-B988-1F09423BBF2E}" type="slidenum">
              <a:rPr b="0" lang="en-GB" sz="1000" spc="-1" strike="noStrike">
                <a:solidFill>
                  <a:srgbClr val="f2f2f2"/>
                </a:solidFill>
                <a:latin typeface="Calisto MT"/>
              </a:rPr>
              <a:t>&lt;number&gt;</a:t>
            </a:fld>
            <a:endParaRPr b="0" lang="en-US" sz="1000" spc="-1" strike="noStrike">
              <a:latin typeface="Times New Roman"/>
            </a:endParaRPr>
          </a:p>
        </p:txBody>
      </p:sp>
      <p:sp>
        <p:nvSpPr>
          <p:cNvPr id="2" name="PlaceHolder 3"/>
          <p:cNvSpPr>
            <a:spLocks noGrp="1"/>
          </p:cNvSpPr>
          <p:nvPr>
            <p:ph type="dt" idx="3"/>
          </p:nvPr>
        </p:nvSpPr>
        <p:spPr>
          <a:xfrm>
            <a:off x="7678800" y="5883120"/>
            <a:ext cx="2742480" cy="36432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913680" y="609480"/>
            <a:ext cx="10352880" cy="96984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42" name="PlaceHolder 2"/>
          <p:cNvSpPr>
            <a:spLocks noGrp="1"/>
          </p:cNvSpPr>
          <p:nvPr>
            <p:ph type="ftr" idx="4"/>
          </p:nvPr>
        </p:nvSpPr>
        <p:spPr>
          <a:xfrm>
            <a:off x="913680" y="5883120"/>
            <a:ext cx="6672240" cy="36432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43" name="PlaceHolder 3"/>
          <p:cNvSpPr>
            <a:spLocks noGrp="1"/>
          </p:cNvSpPr>
          <p:nvPr>
            <p:ph type="sldNum" idx="5"/>
          </p:nvPr>
        </p:nvSpPr>
        <p:spPr>
          <a:xfrm>
            <a:off x="10514160" y="5883120"/>
            <a:ext cx="752760" cy="364320"/>
          </a:xfrm>
          <a:prstGeom prst="rect">
            <a:avLst/>
          </a:prstGeom>
          <a:noFill/>
          <a:ln w="0">
            <a:noFill/>
          </a:ln>
        </p:spPr>
        <p:txBody>
          <a:bodyPr lIns="90000" rIns="90000" tIns="45000" bIns="45000" anchor="ctr">
            <a:noAutofit/>
          </a:bodyPr>
          <a:lstStyle>
            <a:lvl1pPr algn="r">
              <a:lnSpc>
                <a:spcPct val="100000"/>
              </a:lnSpc>
              <a:buNone/>
              <a:defRPr b="0" lang="en-GB" sz="1000" spc="-1" strike="noStrike">
                <a:solidFill>
                  <a:srgbClr val="f2f2f2"/>
                </a:solidFill>
                <a:latin typeface="Calisto MT"/>
              </a:defRPr>
            </a:lvl1pPr>
          </a:lstStyle>
          <a:p>
            <a:pPr algn="r">
              <a:lnSpc>
                <a:spcPct val="100000"/>
              </a:lnSpc>
              <a:buNone/>
            </a:pPr>
            <a:fld id="{4E3760BE-49F8-4D07-A192-2477C09F2D5A}" type="slidenum">
              <a:rPr b="0" lang="en-GB" sz="1000" spc="-1" strike="noStrike">
                <a:solidFill>
                  <a:srgbClr val="f2f2f2"/>
                </a:solidFill>
                <a:latin typeface="Calisto MT"/>
              </a:rPr>
              <a:t>&lt;number&gt;</a:t>
            </a:fld>
            <a:endParaRPr b="0" lang="en-US" sz="1000" spc="-1" strike="noStrike">
              <a:latin typeface="Times New Roman"/>
            </a:endParaRPr>
          </a:p>
        </p:txBody>
      </p:sp>
      <p:sp>
        <p:nvSpPr>
          <p:cNvPr id="44" name="PlaceHolder 4"/>
          <p:cNvSpPr>
            <a:spLocks noGrp="1"/>
          </p:cNvSpPr>
          <p:nvPr>
            <p:ph type="dt" idx="6"/>
          </p:nvPr>
        </p:nvSpPr>
        <p:spPr>
          <a:xfrm>
            <a:off x="7678800" y="5883120"/>
            <a:ext cx="2742480" cy="36432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365040"/>
            <a:ext cx="10515600" cy="1325520"/>
          </a:xfrm>
          <a:prstGeom prst="rect">
            <a:avLst/>
          </a:prstGeom>
          <a:noFill/>
          <a:ln w="12600">
            <a:noFill/>
          </a:ln>
        </p:spPr>
        <p:txBody>
          <a:bodyPr tIns="91440" bIns="91440" anchor="ctr">
            <a:noAutofit/>
          </a:bodyPr>
          <a:p>
            <a:pPr>
              <a:lnSpc>
                <a:spcPct val="90000"/>
              </a:lnSpc>
              <a:buNone/>
              <a:tabLst>
                <a:tab algn="l" pos="0"/>
              </a:tabLst>
            </a:pPr>
            <a:r>
              <a:rPr b="0" lang="en-US" sz="8800" spc="-1" strike="noStrike">
                <a:solidFill>
                  <a:srgbClr val="000000"/>
                </a:solidFill>
                <a:latin typeface="Calibri Light"/>
                <a:ea typeface="Calibri Light"/>
              </a:rPr>
              <a:t>Title Text</a:t>
            </a:r>
            <a:endParaRPr b="0" lang="en-US" sz="8800" spc="-1" strike="noStrike">
              <a:solidFill>
                <a:srgbClr val="535860"/>
              </a:solidFill>
              <a:latin typeface="Graphik Light"/>
            </a:endParaRPr>
          </a:p>
        </p:txBody>
      </p:sp>
      <p:sp>
        <p:nvSpPr>
          <p:cNvPr id="83" name="PlaceHolder 2"/>
          <p:cNvSpPr>
            <a:spLocks noGrp="1"/>
          </p:cNvSpPr>
          <p:nvPr>
            <p:ph type="body"/>
          </p:nvPr>
        </p:nvSpPr>
        <p:spPr>
          <a:xfrm>
            <a:off x="838080" y="1825560"/>
            <a:ext cx="10515600" cy="4351320"/>
          </a:xfrm>
          <a:prstGeom prst="rect">
            <a:avLst/>
          </a:prstGeom>
          <a:noFill/>
          <a:ln w="12600">
            <a:noFill/>
          </a:ln>
        </p:spPr>
        <p:txBody>
          <a:bodyPr tIns="91440" bIns="91440" anchor="t">
            <a:noAutofit/>
          </a:bodyPr>
          <a:p>
            <a:pPr marL="432000" indent="-324000">
              <a:lnSpc>
                <a:spcPct val="90000"/>
              </a:lnSpc>
              <a:spcBef>
                <a:spcPts val="2001"/>
              </a:spcBef>
              <a:buClr>
                <a:srgbClr val="000000"/>
              </a:buClr>
              <a:buSzPct val="45000"/>
              <a:buFont typeface="Wingdings" charset="2"/>
              <a:buChar char=""/>
            </a:pPr>
            <a:r>
              <a:rPr b="0" lang="en-US" sz="5600" spc="-1" strike="noStrike">
                <a:solidFill>
                  <a:srgbClr val="000000"/>
                </a:solidFill>
                <a:latin typeface="Calibri"/>
                <a:ea typeface="Calibri"/>
              </a:rPr>
              <a:t>Body Level One</a:t>
            </a:r>
            <a:endParaRPr b="0" lang="en-US" sz="5600" spc="-1" strike="noStrike">
              <a:solidFill>
                <a:srgbClr val="535860"/>
              </a:solidFill>
              <a:latin typeface="Graphik Light"/>
            </a:endParaRPr>
          </a:p>
          <a:p>
            <a:pPr lvl="1" marL="864000" indent="-324000">
              <a:lnSpc>
                <a:spcPct val="90000"/>
              </a:lnSpc>
              <a:spcBef>
                <a:spcPts val="2001"/>
              </a:spcBef>
              <a:buClr>
                <a:srgbClr val="000000"/>
              </a:buClr>
              <a:buSzPct val="75000"/>
              <a:buFont typeface="Symbol" charset="2"/>
              <a:buChar char=""/>
            </a:pPr>
            <a:r>
              <a:rPr b="0" lang="en-US" sz="5600" spc="-1" strike="noStrike">
                <a:solidFill>
                  <a:srgbClr val="000000"/>
                </a:solidFill>
                <a:latin typeface="Calibri"/>
                <a:ea typeface="Calibri"/>
              </a:rPr>
              <a:t>Body Level Two</a:t>
            </a:r>
            <a:endParaRPr b="0" lang="en-US" sz="5600" spc="-1" strike="noStrike">
              <a:solidFill>
                <a:srgbClr val="535860"/>
              </a:solidFill>
              <a:latin typeface="Graphik Light"/>
            </a:endParaRPr>
          </a:p>
          <a:p>
            <a:pPr lvl="2" marL="1296000" indent="-288000">
              <a:lnSpc>
                <a:spcPct val="90000"/>
              </a:lnSpc>
              <a:spcBef>
                <a:spcPts val="2001"/>
              </a:spcBef>
              <a:buClr>
                <a:srgbClr val="000000"/>
              </a:buClr>
              <a:buSzPct val="45000"/>
              <a:buFont typeface="Wingdings" charset="2"/>
              <a:buChar char=""/>
            </a:pPr>
            <a:r>
              <a:rPr b="0" lang="en-US" sz="5600" spc="-1" strike="noStrike">
                <a:solidFill>
                  <a:srgbClr val="000000"/>
                </a:solidFill>
                <a:latin typeface="Calibri"/>
                <a:ea typeface="Calibri"/>
              </a:rPr>
              <a:t>Body Level Three</a:t>
            </a:r>
            <a:endParaRPr b="0" lang="en-US" sz="5600" spc="-1" strike="noStrike">
              <a:solidFill>
                <a:srgbClr val="535860"/>
              </a:solidFill>
              <a:latin typeface="Graphik Light"/>
            </a:endParaRPr>
          </a:p>
          <a:p>
            <a:pPr lvl="3" marL="1728000" indent="-216000">
              <a:lnSpc>
                <a:spcPct val="90000"/>
              </a:lnSpc>
              <a:spcBef>
                <a:spcPts val="2001"/>
              </a:spcBef>
              <a:buClr>
                <a:srgbClr val="000000"/>
              </a:buClr>
              <a:buSzPct val="75000"/>
              <a:buFont typeface="Symbol" charset="2"/>
              <a:buChar char=""/>
            </a:pPr>
            <a:r>
              <a:rPr b="0" lang="en-US" sz="5600" spc="-1" strike="noStrike">
                <a:solidFill>
                  <a:srgbClr val="000000"/>
                </a:solidFill>
                <a:latin typeface="Calibri"/>
                <a:ea typeface="Calibri"/>
              </a:rPr>
              <a:t>Body Level Four</a:t>
            </a:r>
            <a:endParaRPr b="0" lang="en-US" sz="5600" spc="-1" strike="noStrike">
              <a:solidFill>
                <a:srgbClr val="535860"/>
              </a:solidFill>
              <a:latin typeface="Graphik Light"/>
            </a:endParaRPr>
          </a:p>
          <a:p>
            <a:pPr lvl="4" marL="2160000" indent="-216000">
              <a:lnSpc>
                <a:spcPct val="90000"/>
              </a:lnSpc>
              <a:spcBef>
                <a:spcPts val="2001"/>
              </a:spcBef>
              <a:buClr>
                <a:srgbClr val="000000"/>
              </a:buClr>
              <a:buSzPct val="45000"/>
              <a:buFont typeface="Wingdings" charset="2"/>
              <a:buChar char=""/>
            </a:pPr>
            <a:r>
              <a:rPr b="0" lang="en-US" sz="5600" spc="-1" strike="noStrike">
                <a:solidFill>
                  <a:srgbClr val="000000"/>
                </a:solidFill>
                <a:latin typeface="Calibri"/>
                <a:ea typeface="Calibri"/>
              </a:rPr>
              <a:t>Body Level Five</a:t>
            </a:r>
            <a:endParaRPr b="0" lang="en-US" sz="5600" spc="-1" strike="noStrike">
              <a:solidFill>
                <a:srgbClr val="535860"/>
              </a:solidFill>
              <a:latin typeface="Graphik Light"/>
            </a:endParaRPr>
          </a:p>
        </p:txBody>
      </p:sp>
      <p:sp>
        <p:nvSpPr>
          <p:cNvPr id="84" name="PlaceHolder 3"/>
          <p:cNvSpPr>
            <a:spLocks noGrp="1"/>
          </p:cNvSpPr>
          <p:nvPr>
            <p:ph type="sldNum" idx="7"/>
          </p:nvPr>
        </p:nvSpPr>
        <p:spPr>
          <a:xfrm>
            <a:off x="11101320" y="6417720"/>
            <a:ext cx="252360" cy="241920"/>
          </a:xfrm>
          <a:prstGeom prst="rect">
            <a:avLst/>
          </a:prstGeom>
          <a:noFill/>
          <a:ln w="12600">
            <a:noFill/>
          </a:ln>
        </p:spPr>
        <p:txBody>
          <a:bodyPr tIns="91440" bIns="91440" anchor="ctr">
            <a:noAutofit/>
          </a:bodyPr>
          <a:lstStyle>
            <a:lvl1pPr>
              <a:defRPr b="0" lang="en-US" sz="2400" spc="-1" strike="noStrike">
                <a:latin typeface="Times New Roman"/>
              </a:defRPr>
            </a:lvl1pPr>
          </a:lstStyle>
          <a:p>
            <a:endParaRPr b="0" lang="en-US" sz="2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hyperlink" Target="https://www.nikonsmallworld.com/galleries/2026-small-world-in-motion-competition/abnormal-beating-of-airway-cilia-from-a-child-with-primary-ciliary-dyskinesia-pcd" TargetMode="External"/><Relationship Id="rId3"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hyperlink" Target="https://www.productionhub.com/videos/details/37846" TargetMode="External"/><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15.png"/><Relationship Id="rId3"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Title 1"/>
          <p:cNvSpPr/>
          <p:nvPr/>
        </p:nvSpPr>
        <p:spPr>
          <a:xfrm>
            <a:off x="1499040" y="717480"/>
            <a:ext cx="8970120" cy="1070280"/>
          </a:xfrm>
          <a:prstGeom prst="rect">
            <a:avLst/>
          </a:prstGeom>
          <a:noFill/>
          <a:ln w="0">
            <a:noFill/>
          </a:ln>
          <a:effectLst>
            <a:outerShdw dist="0" dir="0" blurRad="25560" rotWithShape="0">
              <a:srgbClr val="000000">
                <a:alpha val="46000"/>
              </a:srgbClr>
            </a:outerShdw>
          </a:effectLst>
        </p:spPr>
        <p:style>
          <a:lnRef idx="0"/>
          <a:fillRef idx="0"/>
          <a:effectRef idx="0"/>
          <a:fontRef idx="minor"/>
        </p:style>
        <p:txBody>
          <a:bodyPr lIns="90000" rIns="90000" tIns="45000" bIns="45000" anchor="ctr">
            <a:normAutofit/>
          </a:bodyPr>
          <a:p>
            <a:pPr algn="ctr">
              <a:lnSpc>
                <a:spcPct val="100000"/>
              </a:lnSpc>
              <a:buNone/>
            </a:pPr>
            <a:r>
              <a:rPr b="0" lang="en-GB" sz="4800" spc="-1" strike="noStrike">
                <a:solidFill>
                  <a:srgbClr val="ffffff"/>
                </a:solidFill>
                <a:latin typeface="Georgia"/>
                <a:ea typeface="DejaVu Sans"/>
              </a:rPr>
              <a:t>Soft-Matter @ NORDITA</a:t>
            </a:r>
            <a:endParaRPr b="0" lang="en-US" sz="4800" spc="-1" strike="noStrike">
              <a:latin typeface="Arial"/>
            </a:endParaRPr>
          </a:p>
        </p:txBody>
      </p:sp>
      <p:sp>
        <p:nvSpPr>
          <p:cNvPr id="122" name="Subtitle 2"/>
          <p:cNvSpPr/>
          <p:nvPr/>
        </p:nvSpPr>
        <p:spPr>
          <a:xfrm>
            <a:off x="2971800" y="2057400"/>
            <a:ext cx="5943600" cy="685800"/>
          </a:xfrm>
          <a:prstGeom prst="rect">
            <a:avLst/>
          </a:prstGeom>
          <a:noFill/>
          <a:ln w="0">
            <a:noFill/>
          </a:ln>
          <a:effectLst>
            <a:outerShdw dist="0" dir="0" blurRad="25560" rotWithShape="0">
              <a:srgbClr val="000000">
                <a:alpha val="46000"/>
              </a:srgbClr>
            </a:outerShdw>
          </a:effectLst>
        </p:spPr>
        <p:style>
          <a:lnRef idx="0"/>
          <a:fillRef idx="0"/>
          <a:effectRef idx="0"/>
          <a:fontRef idx="minor"/>
        </p:style>
        <p:txBody>
          <a:bodyPr lIns="90000" rIns="90000" tIns="45000" bIns="45000" anchor="t">
            <a:noAutofit/>
          </a:bodyPr>
          <a:p>
            <a:pPr marL="37080" algn="ctr">
              <a:lnSpc>
                <a:spcPct val="100000"/>
              </a:lnSpc>
              <a:spcBef>
                <a:spcPts val="641"/>
              </a:spcBef>
              <a:spcAft>
                <a:spcPts val="601"/>
              </a:spcAft>
              <a:buNone/>
              <a:tabLst>
                <a:tab algn="l" pos="0"/>
              </a:tabLst>
            </a:pPr>
            <a:r>
              <a:rPr b="0" lang="en-GB" sz="3200" spc="-1" strike="noStrike">
                <a:solidFill>
                  <a:srgbClr val="ffc000"/>
                </a:solidFill>
                <a:latin typeface="Calisto MT"/>
                <a:ea typeface="DejaVu Sans"/>
              </a:rPr>
              <a:t>Dhrubaditya (Dhruba) Mitra</a:t>
            </a:r>
            <a:endParaRPr b="0" lang="en-US" sz="3200" spc="-1" strike="noStrike">
              <a:latin typeface="Arial"/>
            </a:endParaRPr>
          </a:p>
          <a:p>
            <a:pPr marL="37080" algn="ctr">
              <a:lnSpc>
                <a:spcPct val="100000"/>
              </a:lnSpc>
              <a:spcBef>
                <a:spcPts val="641"/>
              </a:spcBef>
              <a:spcAft>
                <a:spcPts val="601"/>
              </a:spcAft>
              <a:buNone/>
              <a:tabLst>
                <a:tab algn="l" pos="0"/>
              </a:tabLst>
            </a:pPr>
            <a:r>
              <a:rPr b="0" lang="en-GB" sz="3200" spc="-1" strike="noStrike">
                <a:solidFill>
                  <a:srgbClr val="ffc000"/>
                </a:solidFill>
                <a:latin typeface="Calisto MT"/>
                <a:ea typeface="DejaVu Sans"/>
              </a:rPr>
              <a:t>  </a:t>
            </a:r>
            <a:endParaRPr b="0" lang="en-US" sz="3200" spc="-1" strike="noStrike">
              <a:latin typeface="Arial"/>
            </a:endParaRPr>
          </a:p>
        </p:txBody>
      </p:sp>
      <p:pic>
        <p:nvPicPr>
          <p:cNvPr id="123" name="" descr=""/>
          <p:cNvPicPr/>
          <p:nvPr/>
        </p:nvPicPr>
        <p:blipFill>
          <a:blip r:embed="rId1"/>
          <a:stretch/>
        </p:blipFill>
        <p:spPr>
          <a:xfrm>
            <a:off x="457200" y="2971800"/>
            <a:ext cx="3361320" cy="1828800"/>
          </a:xfrm>
          <a:prstGeom prst="rect">
            <a:avLst/>
          </a:prstGeom>
          <a:ln w="0">
            <a:noFill/>
          </a:ln>
        </p:spPr>
      </p:pic>
      <p:pic>
        <p:nvPicPr>
          <p:cNvPr id="124" name="Picture 1" descr=""/>
          <p:cNvPicPr/>
          <p:nvPr/>
        </p:nvPicPr>
        <p:blipFill>
          <a:blip r:embed="rId2"/>
          <a:stretch/>
        </p:blipFill>
        <p:spPr>
          <a:xfrm>
            <a:off x="3972600" y="3657600"/>
            <a:ext cx="3342600" cy="2666520"/>
          </a:xfrm>
          <a:prstGeom prst="rect">
            <a:avLst/>
          </a:prstGeom>
          <a:ln w="0">
            <a:noFill/>
          </a:ln>
        </p:spPr>
      </p:pic>
      <p:pic>
        <p:nvPicPr>
          <p:cNvPr id="125" name="" descr=""/>
          <p:cNvPicPr/>
          <p:nvPr/>
        </p:nvPicPr>
        <p:blipFill>
          <a:blip r:embed="rId3"/>
          <a:stretch/>
        </p:blipFill>
        <p:spPr>
          <a:xfrm>
            <a:off x="7543800" y="4572000"/>
            <a:ext cx="3668040" cy="2057400"/>
          </a:xfrm>
          <a:prstGeom prst="rect">
            <a:avLst/>
          </a:prstGeom>
          <a:ln w="0">
            <a:noFill/>
          </a:ln>
        </p:spPr>
      </p:pic>
      <p:pic>
        <p:nvPicPr>
          <p:cNvPr id="126" name="" descr=""/>
          <p:cNvPicPr/>
          <p:nvPr/>
        </p:nvPicPr>
        <p:blipFill>
          <a:blip r:embed="rId4"/>
          <a:stretch/>
        </p:blipFill>
        <p:spPr>
          <a:xfrm>
            <a:off x="10035000" y="2287440"/>
            <a:ext cx="2018880" cy="20095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913680" y="609480"/>
            <a:ext cx="2972520" cy="96984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us</a:t>
            </a:r>
            <a:endParaRPr b="0" lang="en-US" sz="4000" spc="-1" strike="noStrike">
              <a:latin typeface="Arial"/>
            </a:endParaRPr>
          </a:p>
        </p:txBody>
      </p:sp>
      <p:sp>
        <p:nvSpPr>
          <p:cNvPr id="128" name="PlaceHolder 2"/>
          <p:cNvSpPr>
            <a:spLocks noGrp="1"/>
          </p:cNvSpPr>
          <p:nvPr>
            <p:ph/>
          </p:nvPr>
        </p:nvSpPr>
        <p:spPr>
          <a:xfrm>
            <a:off x="913680" y="1732320"/>
            <a:ext cx="4801320" cy="2611080"/>
          </a:xfrm>
          <a:prstGeom prst="rect">
            <a:avLst/>
          </a:prstGeom>
          <a:noFill/>
          <a:ln w="0">
            <a:noFill/>
          </a:ln>
          <a:effectLst>
            <a:outerShdw dist="0" dir="0" blurRad="25560" rotWithShape="0">
              <a:srgbClr val="000000">
                <a:alpha val="46000"/>
              </a:srgbClr>
            </a:outerShdw>
          </a:effectLst>
        </p:spPr>
        <p:txBody>
          <a:bodyPr lIns="90000" rIns="90000" tIns="45000" bIns="45000" anchor="t">
            <a:noAutofit/>
          </a:bodyPr>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Anthony Bonfils</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Ralf Eichorn</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Dhrubaditya (dhruba) Mitra</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Pijush Patra </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John Wettlaufer </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endParaRPr b="0" lang="en-US" sz="2000" spc="-1" strike="noStrike">
              <a:latin typeface="Arial"/>
            </a:endParaRPr>
          </a:p>
        </p:txBody>
      </p:sp>
      <p:sp>
        <p:nvSpPr>
          <p:cNvPr id="129" name="PlaceHolder 3"/>
          <p:cNvSpPr>
            <a:spLocks noGrp="1"/>
          </p:cNvSpPr>
          <p:nvPr>
            <p:ph/>
          </p:nvPr>
        </p:nvSpPr>
        <p:spPr>
          <a:xfrm>
            <a:off x="6857280" y="1960920"/>
            <a:ext cx="4572720" cy="1239480"/>
          </a:xfrm>
          <a:prstGeom prst="rect">
            <a:avLst/>
          </a:prstGeom>
          <a:noFill/>
          <a:ln w="0">
            <a:noFill/>
          </a:ln>
          <a:effectLst>
            <a:outerShdw dist="0" dir="0" blurRad="25560" rotWithShape="0">
              <a:srgbClr val="000000">
                <a:alpha val="46000"/>
              </a:srgbClr>
            </a:outerShdw>
          </a:effectLst>
        </p:spPr>
        <p:txBody>
          <a:bodyPr lIns="90000" rIns="90000" tIns="45000" bIns="45000" anchor="t">
            <a:noAutofit/>
          </a:bodyPr>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Mason Porter (NORDITA) </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Supriya Krishnamurthy (SU)</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endParaRPr b="0" lang="en-US" sz="2000" spc="-1" strike="noStrike">
              <a:latin typeface="Arial"/>
            </a:endParaRPr>
          </a:p>
        </p:txBody>
      </p:sp>
      <p:sp>
        <p:nvSpPr>
          <p:cNvPr id="130" name="PlaceHolder 4"/>
          <p:cNvSpPr>
            <a:spLocks noGrp="1"/>
          </p:cNvSpPr>
          <p:nvPr>
            <p:ph type="title"/>
          </p:nvPr>
        </p:nvSpPr>
        <p:spPr>
          <a:xfrm>
            <a:off x="7543800" y="534240"/>
            <a:ext cx="2972520" cy="96984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friends</a:t>
            </a: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1" name="" descr=""/>
          <p:cNvPicPr/>
          <p:nvPr/>
        </p:nvPicPr>
        <p:blipFill>
          <a:blip r:embed="rId1"/>
          <a:stretch/>
        </p:blipFill>
        <p:spPr>
          <a:xfrm>
            <a:off x="3125880" y="933120"/>
            <a:ext cx="6018120" cy="520920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2" name="" descr=""/>
          <p:cNvPicPr/>
          <p:nvPr/>
        </p:nvPicPr>
        <p:blipFill>
          <a:blip r:embed="rId1"/>
          <a:stretch/>
        </p:blipFill>
        <p:spPr>
          <a:xfrm>
            <a:off x="1067040" y="2057400"/>
            <a:ext cx="5333760" cy="2476080"/>
          </a:xfrm>
          <a:prstGeom prst="rect">
            <a:avLst/>
          </a:prstGeom>
          <a:ln w="0">
            <a:noFill/>
          </a:ln>
        </p:spPr>
      </p:pic>
      <p:pic>
        <p:nvPicPr>
          <p:cNvPr id="133" name="" descr=""/>
          <p:cNvPicPr/>
          <p:nvPr/>
        </p:nvPicPr>
        <p:blipFill>
          <a:blip r:embed="rId2"/>
          <a:stretch/>
        </p:blipFill>
        <p:spPr>
          <a:xfrm>
            <a:off x="8001000" y="1648080"/>
            <a:ext cx="3580920" cy="383832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4" name="" descr=""/>
          <p:cNvPicPr/>
          <p:nvPr/>
        </p:nvPicPr>
        <p:blipFill>
          <a:blip r:embed="rId1"/>
          <a:stretch/>
        </p:blipFill>
        <p:spPr>
          <a:xfrm>
            <a:off x="1743480" y="1600200"/>
            <a:ext cx="8314920" cy="4524120"/>
          </a:xfrm>
          <a:prstGeom prst="rect">
            <a:avLst/>
          </a:prstGeom>
          <a:ln w="0">
            <a:noFill/>
          </a:ln>
        </p:spPr>
      </p:pic>
      <p:sp>
        <p:nvSpPr>
          <p:cNvPr id="135" name=""/>
          <p:cNvSpPr txBox="1"/>
          <p:nvPr/>
        </p:nvSpPr>
        <p:spPr>
          <a:xfrm>
            <a:off x="4487400" y="685800"/>
            <a:ext cx="4935600" cy="346320"/>
          </a:xfrm>
          <a:prstGeom prst="rect">
            <a:avLst/>
          </a:prstGeom>
          <a:noFill/>
          <a:ln w="0">
            <a:noFill/>
          </a:ln>
        </p:spPr>
        <p:txBody>
          <a:bodyPr lIns="90000" rIns="90000" tIns="45000" bIns="45000" anchor="t">
            <a:noAutofit/>
          </a:bodyPr>
          <a:p>
            <a:r>
              <a:rPr b="0" lang="en-US" sz="1800" spc="-1" strike="noStrike">
                <a:latin typeface="Arial"/>
              </a:rPr>
              <a:t>Abnormal beating of airway cillia (micro meter) </a:t>
            </a:r>
            <a:endParaRPr b="0" lang="en-US" sz="1800" spc="-1" strike="noStrike">
              <a:latin typeface="Arial"/>
            </a:endParaRPr>
          </a:p>
        </p:txBody>
      </p:sp>
      <p:sp>
        <p:nvSpPr>
          <p:cNvPr id="136" name=""/>
          <p:cNvSpPr txBox="1"/>
          <p:nvPr/>
        </p:nvSpPr>
        <p:spPr>
          <a:xfrm>
            <a:off x="1371600" y="1199520"/>
            <a:ext cx="9829800" cy="456120"/>
          </a:xfrm>
          <a:prstGeom prst="rect">
            <a:avLst/>
          </a:prstGeom>
          <a:noFill/>
          <a:ln w="0">
            <a:noFill/>
          </a:ln>
        </p:spPr>
        <p:txBody>
          <a:bodyPr lIns="90000" rIns="90000" tIns="45000" bIns="45000" anchor="t">
            <a:noAutofit/>
          </a:bodyPr>
          <a:p>
            <a:r>
              <a:rPr b="0" lang="en-US" sz="1800" spc="-1" strike="noStrike">
                <a:latin typeface="Arial"/>
                <a:hlinkClick r:id="rId2"/>
              </a:rPr>
              <a:t>https://www.nikonsmallworld.com/galleries/2026-small-world-in-motion-competition/abnormal-beating-of-airway-cilia-from-a-child-with-primary-ciliary-dyskinesia-pcd</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
          <p:cNvSpPr txBox="1"/>
          <p:nvPr/>
        </p:nvSpPr>
        <p:spPr>
          <a:xfrm>
            <a:off x="4447440" y="3293280"/>
            <a:ext cx="5382360" cy="427320"/>
          </a:xfrm>
          <a:prstGeom prst="rect">
            <a:avLst/>
          </a:prstGeom>
          <a:noFill/>
          <a:ln w="0">
            <a:noFill/>
          </a:ln>
        </p:spPr>
        <p:txBody>
          <a:bodyPr lIns="90000" rIns="90000" tIns="45000" bIns="45000" anchor="t">
            <a:noAutofit/>
          </a:bodyPr>
          <a:p>
            <a:r>
              <a:rPr b="0" lang="en-US" sz="1800" spc="-1" strike="noStrike">
                <a:latin typeface="Arial"/>
                <a:hlinkClick r:id="rId1"/>
              </a:rPr>
              <a:t>Animation of subcellular processes</a:t>
            </a:r>
            <a:endParaRPr b="0" lang="en-US" sz="1800" spc="-1" strike="noStrike">
              <a:latin typeface="Arial"/>
            </a:endParaRPr>
          </a:p>
        </p:txBody>
      </p:sp>
      <p:sp>
        <p:nvSpPr>
          <p:cNvPr id="138" name=""/>
          <p:cNvSpPr txBox="1"/>
          <p:nvPr/>
        </p:nvSpPr>
        <p:spPr>
          <a:xfrm>
            <a:off x="3429000" y="685800"/>
            <a:ext cx="5507280" cy="346320"/>
          </a:xfrm>
          <a:prstGeom prst="rect">
            <a:avLst/>
          </a:prstGeom>
          <a:noFill/>
          <a:ln w="0">
            <a:noFill/>
          </a:ln>
        </p:spPr>
        <p:txBody>
          <a:bodyPr lIns="90000" rIns="90000" tIns="45000" bIns="45000" anchor="t">
            <a:noAutofit/>
          </a:bodyPr>
          <a:p>
            <a:r>
              <a:rPr b="0" lang="en-US" sz="1800" spc="-1" strike="noStrike">
                <a:latin typeface="Arial"/>
              </a:rPr>
              <a:t>3D Medical Animations : John Leiber : Art of the Cell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127080"/>
            <a:ext cx="10514880" cy="132480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Imaging from individual cells with voltage sensitive dyes (scale mm )</a:t>
            </a:r>
            <a:endParaRPr b="0" lang="en-US" sz="4000" spc="-1" strike="noStrike">
              <a:latin typeface="Arial"/>
            </a:endParaRPr>
          </a:p>
        </p:txBody>
      </p:sp>
      <p:pic>
        <p:nvPicPr>
          <p:cNvPr id="140" name="Content Placeholder 3" descr=""/>
          <p:cNvPicPr/>
          <p:nvPr/>
        </p:nvPicPr>
        <p:blipFill>
          <a:blip r:embed="rId1"/>
          <a:stretch/>
        </p:blipFill>
        <p:spPr>
          <a:xfrm>
            <a:off x="6400800" y="1371600"/>
            <a:ext cx="5076360" cy="5367240"/>
          </a:xfrm>
          <a:prstGeom prst="rect">
            <a:avLst/>
          </a:prstGeom>
          <a:ln w="0">
            <a:noFill/>
          </a:ln>
          <a:effectLst>
            <a:outerShdw dist="0" dir="0" blurRad="25560" rotWithShape="0">
              <a:srgbClr val="000000">
                <a:alpha val="46000"/>
              </a:srgbClr>
            </a:outerShdw>
          </a:effectLst>
        </p:spPr>
      </p:pic>
      <p:sp>
        <p:nvSpPr>
          <p:cNvPr id="141" name="TextBox 4"/>
          <p:cNvSpPr/>
          <p:nvPr/>
        </p:nvSpPr>
        <p:spPr>
          <a:xfrm>
            <a:off x="619200" y="1905120"/>
            <a:ext cx="4266360" cy="31071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GB" sz="1800" spc="-1" strike="noStrike">
                <a:solidFill>
                  <a:srgbClr val="ffffff"/>
                </a:solidFill>
                <a:latin typeface="Calisto MT"/>
                <a:ea typeface="DejaVu Sans"/>
              </a:rPr>
              <a:t>Data from mouse cortex. Sampling rate is 9.6 Hz.  Individual neurons can sometime be identified and  If we know the underlying wiring diagram then the activity can be connected to that. In two dimensions we are reaching 1000 neurons, the recording can go on for days. There are challenges to make sure that the  recordings are from the same cell.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913680" y="609480"/>
            <a:ext cx="10352880" cy="96984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Engineering Turbulence (scale meters)</a:t>
            </a:r>
            <a:endParaRPr b="0" lang="en-US" sz="4000" spc="-1" strike="noStrike">
              <a:latin typeface="Arial"/>
            </a:endParaRPr>
          </a:p>
        </p:txBody>
      </p:sp>
      <p:pic>
        <p:nvPicPr>
          <p:cNvPr id="143" name="Picture 3" descr=""/>
          <p:cNvPicPr/>
          <p:nvPr/>
        </p:nvPicPr>
        <p:blipFill>
          <a:blip r:embed="rId1"/>
          <a:stretch/>
        </p:blipFill>
        <p:spPr>
          <a:xfrm>
            <a:off x="6421320" y="1943280"/>
            <a:ext cx="4186080" cy="4152240"/>
          </a:xfrm>
          <a:prstGeom prst="rect">
            <a:avLst/>
          </a:prstGeom>
          <a:ln w="0">
            <a:noFill/>
          </a:ln>
        </p:spPr>
      </p:pic>
      <p:pic>
        <p:nvPicPr>
          <p:cNvPr id="144" name="Picture 4" descr=""/>
          <p:cNvPicPr/>
          <p:nvPr/>
        </p:nvPicPr>
        <p:blipFill>
          <a:blip r:embed="rId2"/>
          <a:stretch/>
        </p:blipFill>
        <p:spPr>
          <a:xfrm>
            <a:off x="752400" y="2133720"/>
            <a:ext cx="4966200" cy="39618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913680" y="609480"/>
            <a:ext cx="10352880" cy="969840"/>
          </a:xfrm>
          <a:prstGeom prst="rect">
            <a:avLst/>
          </a:prstGeom>
          <a:noFill/>
          <a:ln w="0">
            <a:noFill/>
          </a:ln>
        </p:spPr>
        <p:txBody>
          <a:bodyPr lIns="0" rIns="0" tIns="0" bIns="0" anchor="ctr">
            <a:noAutofit/>
          </a:bodyPr>
          <a:p>
            <a:pPr algn="ctr">
              <a:buNone/>
            </a:pPr>
            <a:r>
              <a:rPr b="0" lang="en-US" sz="4400" spc="-1" strike="noStrike">
                <a:latin typeface="Arial"/>
              </a:rPr>
              <a:t>Ice floe  (scale 10 meter)</a:t>
            </a:r>
            <a:endParaRPr b="0" lang="en-US" sz="4400" spc="-1" strike="noStrike">
              <a:latin typeface="Arial"/>
            </a:endParaRPr>
          </a:p>
        </p:txBody>
      </p:sp>
      <p:pic>
        <p:nvPicPr>
          <p:cNvPr id="146" name="" descr=""/>
          <p:cNvPicPr/>
          <p:nvPr/>
        </p:nvPicPr>
        <p:blipFill>
          <a:blip r:embed="rId1"/>
          <a:stretch/>
        </p:blipFill>
        <p:spPr>
          <a:xfrm>
            <a:off x="914400" y="2611440"/>
            <a:ext cx="4999680" cy="3332160"/>
          </a:xfrm>
          <a:prstGeom prst="rect">
            <a:avLst/>
          </a:prstGeom>
          <a:ln w="0">
            <a:noFill/>
          </a:ln>
        </p:spPr>
      </p:pic>
      <p:pic>
        <p:nvPicPr>
          <p:cNvPr id="147" name="" descr=""/>
          <p:cNvPicPr/>
          <p:nvPr/>
        </p:nvPicPr>
        <p:blipFill>
          <a:blip r:embed="rId2"/>
          <a:stretch/>
        </p:blipFill>
        <p:spPr>
          <a:xfrm>
            <a:off x="6391800" y="2476800"/>
            <a:ext cx="5773680" cy="32382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848520" y="228600"/>
            <a:ext cx="10352880" cy="969840"/>
          </a:xfrm>
          <a:prstGeom prst="rect">
            <a:avLst/>
          </a:prstGeom>
          <a:noFill/>
          <a:ln w="0">
            <a:noFill/>
          </a:ln>
        </p:spPr>
        <p:txBody>
          <a:bodyPr lIns="0" rIns="0" tIns="0" bIns="0" anchor="ctr">
            <a:noAutofit/>
          </a:bodyPr>
          <a:p>
            <a:pPr algn="ctr">
              <a:buNone/>
            </a:pPr>
            <a:r>
              <a:rPr b="0" lang="en-US" sz="4400" spc="-1" strike="noStrike">
                <a:latin typeface="Arial"/>
              </a:rPr>
              <a:t>Tropical cyclone (scale kms)</a:t>
            </a:r>
            <a:endParaRPr b="0" lang="en-US" sz="4400" spc="-1" strike="noStrike">
              <a:latin typeface="Arial"/>
            </a:endParaRPr>
          </a:p>
        </p:txBody>
      </p:sp>
      <p:pic>
        <p:nvPicPr>
          <p:cNvPr id="149" name="" descr=""/>
          <p:cNvPicPr/>
          <p:nvPr/>
        </p:nvPicPr>
        <p:blipFill>
          <a:blip r:embed="rId1"/>
          <a:stretch/>
        </p:blipFill>
        <p:spPr>
          <a:xfrm>
            <a:off x="2514600" y="1600200"/>
            <a:ext cx="6757920" cy="45259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365040"/>
            <a:ext cx="4876200" cy="216792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Hadley cells (scale 100 km)</a:t>
            </a:r>
            <a:endParaRPr b="0" lang="en-US" sz="4000" spc="-1" strike="noStrike">
              <a:latin typeface="Arial"/>
            </a:endParaRPr>
          </a:p>
        </p:txBody>
      </p:sp>
      <p:pic>
        <p:nvPicPr>
          <p:cNvPr id="151" name="Picture 3" descr=""/>
          <p:cNvPicPr/>
          <p:nvPr/>
        </p:nvPicPr>
        <p:blipFill>
          <a:blip r:embed="rId1"/>
          <a:stretch/>
        </p:blipFill>
        <p:spPr>
          <a:xfrm>
            <a:off x="6415200" y="365040"/>
            <a:ext cx="4683960" cy="634284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913680" y="609480"/>
            <a:ext cx="10352880" cy="96984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Great red spot of Jupiter (scale Mm)</a:t>
            </a:r>
            <a:endParaRPr b="0" lang="en-US" sz="4000" spc="-1" strike="noStrike">
              <a:latin typeface="Arial"/>
            </a:endParaRPr>
          </a:p>
        </p:txBody>
      </p:sp>
      <p:pic>
        <p:nvPicPr>
          <p:cNvPr id="153" name="Picture 3" descr=""/>
          <p:cNvPicPr/>
          <p:nvPr/>
        </p:nvPicPr>
        <p:blipFill>
          <a:blip r:embed="rId1"/>
          <a:stretch/>
        </p:blipFill>
        <p:spPr>
          <a:xfrm>
            <a:off x="1327320" y="2092680"/>
            <a:ext cx="9467280" cy="306648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914400" y="609480"/>
            <a:ext cx="9144360" cy="96984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What do we do ? </a:t>
            </a:r>
            <a:endParaRPr b="0" lang="en-US" sz="4000" spc="-1" strike="noStrike">
              <a:latin typeface="Arial"/>
            </a:endParaRPr>
          </a:p>
        </p:txBody>
      </p:sp>
      <p:sp>
        <p:nvSpPr>
          <p:cNvPr id="155" name="PlaceHolder 2"/>
          <p:cNvSpPr>
            <a:spLocks noGrp="1"/>
          </p:cNvSpPr>
          <p:nvPr>
            <p:ph/>
          </p:nvPr>
        </p:nvSpPr>
        <p:spPr>
          <a:xfrm>
            <a:off x="914400" y="2286000"/>
            <a:ext cx="8915400" cy="2611080"/>
          </a:xfrm>
          <a:prstGeom prst="rect">
            <a:avLst/>
          </a:prstGeom>
          <a:noFill/>
          <a:ln w="0">
            <a:noFill/>
          </a:ln>
          <a:effectLst>
            <a:outerShdw dist="0" dir="0" blurRad="25560" rotWithShape="0">
              <a:srgbClr val="000000">
                <a:alpha val="46000"/>
              </a:srgbClr>
            </a:outerShdw>
          </a:effectLst>
        </p:spPr>
        <p:txBody>
          <a:bodyPr lIns="90000" rIns="90000" tIns="45000" bIns="45000" anchor="t">
            <a:noAutofit/>
          </a:bodyPr>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Statistical Mechanics ( Beyond second law, active matter ...)</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Biophysics </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Climate Science</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Turbulence</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Fluid Mechanics</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Elasticity  </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Neuroscience</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Astrophysics </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1828800" y="0"/>
            <a:ext cx="9144360" cy="96984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Why is it difficult ? </a:t>
            </a:r>
            <a:endParaRPr b="0" lang="en-US" sz="4000" spc="-1" strike="noStrike">
              <a:latin typeface="Arial"/>
            </a:endParaRPr>
          </a:p>
        </p:txBody>
      </p:sp>
      <p:sp>
        <p:nvSpPr>
          <p:cNvPr id="157" name=""/>
          <p:cNvSpPr txBox="1"/>
          <p:nvPr/>
        </p:nvSpPr>
        <p:spPr>
          <a:xfrm>
            <a:off x="2057400" y="969840"/>
            <a:ext cx="9362880" cy="574920"/>
          </a:xfrm>
          <a:prstGeom prst="rect">
            <a:avLst/>
          </a:prstGeom>
          <a:noFill/>
          <a:ln w="0">
            <a:noFill/>
          </a:ln>
        </p:spPr>
        <p:txBody>
          <a:bodyPr lIns="90000" rIns="90000" tIns="45000" bIns="45000" anchor="t">
            <a:noAutofit/>
          </a:bodyPr>
          <a:p>
            <a:r>
              <a:rPr b="0" lang="en-US" sz="1800" spc="-1" strike="noStrike">
                <a:latin typeface="Arial"/>
              </a:rPr>
              <a:t> “  </a:t>
            </a:r>
            <a:r>
              <a:rPr b="0" lang="en-US" sz="1800" spc="-1" strike="noStrike">
                <a:latin typeface="Arial"/>
              </a:rPr>
              <a:t>I was born late, all easy problems are solved, all beautiful women are married “ - Landau</a:t>
            </a:r>
            <a:endParaRPr b="0" lang="en-US" sz="1800" spc="-1" strike="noStrike">
              <a:latin typeface="Arial"/>
            </a:endParaRPr>
          </a:p>
        </p:txBody>
      </p:sp>
      <p:pic>
        <p:nvPicPr>
          <p:cNvPr id="158" name="" descr=""/>
          <p:cNvPicPr/>
          <p:nvPr/>
        </p:nvPicPr>
        <p:blipFill>
          <a:blip r:embed="rId1"/>
          <a:stretch/>
        </p:blipFill>
        <p:spPr>
          <a:xfrm>
            <a:off x="914400" y="1600200"/>
            <a:ext cx="3471120" cy="4977360"/>
          </a:xfrm>
          <a:prstGeom prst="rect">
            <a:avLst/>
          </a:prstGeom>
          <a:ln w="0">
            <a:noFill/>
          </a:ln>
        </p:spPr>
      </p:pic>
      <p:pic>
        <p:nvPicPr>
          <p:cNvPr id="159" name="" descr=""/>
          <p:cNvPicPr/>
          <p:nvPr/>
        </p:nvPicPr>
        <p:blipFill>
          <a:blip r:embed="rId2"/>
          <a:stretch/>
        </p:blipFill>
        <p:spPr>
          <a:xfrm>
            <a:off x="7086600" y="2019600"/>
            <a:ext cx="4493160" cy="4381200"/>
          </a:xfrm>
          <a:prstGeom prst="rect">
            <a:avLst/>
          </a:prstGeom>
          <a:ln w="0">
            <a:noFill/>
          </a:ln>
        </p:spPr>
      </p:pic>
      <p:sp>
        <p:nvSpPr>
          <p:cNvPr id="160" name=""/>
          <p:cNvSpPr txBox="1"/>
          <p:nvPr/>
        </p:nvSpPr>
        <p:spPr>
          <a:xfrm>
            <a:off x="4583160" y="3082680"/>
            <a:ext cx="1589040" cy="346320"/>
          </a:xfrm>
          <a:prstGeom prst="rect">
            <a:avLst/>
          </a:prstGeom>
          <a:noFill/>
          <a:ln w="0">
            <a:noFill/>
          </a:ln>
        </p:spPr>
        <p:txBody>
          <a:bodyPr lIns="90000" rIns="90000" tIns="45000" bIns="45000" anchor="t">
            <a:noAutofit/>
          </a:bodyPr>
          <a:p>
            <a:r>
              <a:rPr b="0" lang="en-US" sz="1800" spc="-1" strike="noStrike">
                <a:latin typeface="Arial"/>
              </a:rPr>
              <a:t>NON-LINEAR</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961920" y="127080"/>
            <a:ext cx="10514880" cy="132480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Intermediate asymptotics</a:t>
            </a:r>
            <a:endParaRPr b="0" lang="en-US" sz="4000" spc="-1" strike="noStrike">
              <a:latin typeface="Arial"/>
            </a:endParaRPr>
          </a:p>
        </p:txBody>
      </p:sp>
      <p:pic>
        <p:nvPicPr>
          <p:cNvPr id="162" name="Content Placeholder 3" descr=""/>
          <p:cNvPicPr/>
          <p:nvPr/>
        </p:nvPicPr>
        <p:blipFill>
          <a:blip r:embed="rId1"/>
          <a:stretch/>
        </p:blipFill>
        <p:spPr>
          <a:xfrm>
            <a:off x="3751920" y="1901880"/>
            <a:ext cx="2916360" cy="4350600"/>
          </a:xfrm>
          <a:prstGeom prst="rect">
            <a:avLst/>
          </a:prstGeom>
          <a:ln w="0">
            <a:noFill/>
          </a:ln>
          <a:effectLst>
            <a:outerShdw dist="0" dir="0" blurRad="25560" rotWithShape="0">
              <a:srgbClr val="000000">
                <a:alpha val="46000"/>
              </a:srgbClr>
            </a:outerShdw>
          </a:effectLst>
        </p:spPr>
      </p:pic>
      <p:pic>
        <p:nvPicPr>
          <p:cNvPr id="163" name="Picture 4" descr=""/>
          <p:cNvPicPr/>
          <p:nvPr/>
        </p:nvPicPr>
        <p:blipFill>
          <a:blip r:embed="rId2"/>
          <a:stretch/>
        </p:blipFill>
        <p:spPr>
          <a:xfrm>
            <a:off x="8000640" y="1825560"/>
            <a:ext cx="2910600" cy="4350600"/>
          </a:xfrm>
          <a:prstGeom prst="rect">
            <a:avLst/>
          </a:prstGeom>
          <a:ln w="0">
            <a:noFill/>
          </a:ln>
        </p:spPr>
      </p:pic>
      <p:sp>
        <p:nvSpPr>
          <p:cNvPr id="164" name="Rectangle 5"/>
          <p:cNvSpPr/>
          <p:nvPr/>
        </p:nvSpPr>
        <p:spPr>
          <a:xfrm>
            <a:off x="5638680" y="3213000"/>
            <a:ext cx="227880" cy="532800"/>
          </a:xfrm>
          <a:prstGeom prst="rect">
            <a:avLst/>
          </a:prstGeom>
          <a:noFill/>
          <a:ln cap="rnd" w="38160">
            <a:solidFill>
              <a:srgbClr val="bc451b"/>
            </a:solidFill>
            <a:round/>
          </a:ln>
        </p:spPr>
        <p:style>
          <a:lnRef idx="0"/>
          <a:fillRef idx="0"/>
          <a:effectRef idx="0"/>
          <a:fontRef idx="minor"/>
        </p:style>
      </p:sp>
      <p:pic>
        <p:nvPicPr>
          <p:cNvPr id="165" name="Content Placeholder 3" descr=""/>
          <p:cNvPicPr/>
          <p:nvPr/>
        </p:nvPicPr>
        <p:blipFill>
          <a:blip r:embed="rId3"/>
          <a:stretch/>
        </p:blipFill>
        <p:spPr>
          <a:xfrm>
            <a:off x="2096640" y="3505320"/>
            <a:ext cx="322560" cy="481320"/>
          </a:xfrm>
          <a:prstGeom prst="rect">
            <a:avLst/>
          </a:prstGeom>
          <a:ln w="0">
            <a:noFill/>
          </a:ln>
        </p:spPr>
      </p:pic>
      <p:sp>
        <p:nvSpPr>
          <p:cNvPr id="166" name="TextBox 7"/>
          <p:cNvSpPr/>
          <p:nvPr/>
        </p:nvSpPr>
        <p:spPr>
          <a:xfrm>
            <a:off x="1161000" y="6309360"/>
            <a:ext cx="764568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GB" sz="1800" spc="-1" strike="noStrike">
                <a:solidFill>
                  <a:srgbClr val="ffffff"/>
                </a:solidFill>
                <a:latin typeface="Calisto MT"/>
                <a:ea typeface="DejaVu Sans"/>
              </a:rPr>
              <a:t>There is a range of scales over which the theory is scale invarint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7" name="" descr=""/>
          <p:cNvPicPr/>
          <p:nvPr/>
        </p:nvPicPr>
        <p:blipFill>
          <a:blip r:embed="rId1"/>
          <a:stretch/>
        </p:blipFill>
        <p:spPr>
          <a:xfrm>
            <a:off x="1600200" y="979920"/>
            <a:ext cx="8686800" cy="5725080"/>
          </a:xfrm>
          <a:prstGeom prst="rect">
            <a:avLst/>
          </a:prstGeom>
          <a:ln w="0">
            <a:noFill/>
          </a:ln>
        </p:spPr>
      </p:pic>
      <p:sp>
        <p:nvSpPr>
          <p:cNvPr id="168" name=""/>
          <p:cNvSpPr txBox="1"/>
          <p:nvPr/>
        </p:nvSpPr>
        <p:spPr>
          <a:xfrm>
            <a:off x="4379040" y="457200"/>
            <a:ext cx="2250360" cy="346320"/>
          </a:xfrm>
          <a:prstGeom prst="rect">
            <a:avLst/>
          </a:prstGeom>
          <a:noFill/>
          <a:ln w="0">
            <a:noFill/>
          </a:ln>
        </p:spPr>
        <p:txBody>
          <a:bodyPr lIns="90000" rIns="90000" tIns="45000" bIns="45000" anchor="t">
            <a:noAutofit/>
          </a:bodyPr>
          <a:p>
            <a:r>
              <a:rPr b="0" lang="en-US" sz="1800" spc="-1" strike="noStrike">
                <a:latin typeface="Arial"/>
              </a:rPr>
              <a:t>NON-EQUILIBRIUM</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914400" y="609480"/>
            <a:ext cx="9144360" cy="96984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Techniques </a:t>
            </a:r>
            <a:endParaRPr b="0" lang="en-US" sz="4000" spc="-1" strike="noStrike">
              <a:latin typeface="Arial"/>
            </a:endParaRPr>
          </a:p>
        </p:txBody>
      </p:sp>
      <p:sp>
        <p:nvSpPr>
          <p:cNvPr id="170" name="PlaceHolder 2"/>
          <p:cNvSpPr>
            <a:spLocks noGrp="1"/>
          </p:cNvSpPr>
          <p:nvPr>
            <p:ph/>
          </p:nvPr>
        </p:nvSpPr>
        <p:spPr>
          <a:xfrm>
            <a:off x="914400" y="2286000"/>
            <a:ext cx="10287000" cy="2611080"/>
          </a:xfrm>
          <a:prstGeom prst="rect">
            <a:avLst/>
          </a:prstGeom>
          <a:noFill/>
          <a:ln w="0">
            <a:noFill/>
          </a:ln>
          <a:effectLst>
            <a:outerShdw dist="0" dir="0" blurRad="25560" rotWithShape="0">
              <a:srgbClr val="000000">
                <a:alpha val="46000"/>
              </a:srgbClr>
            </a:outerShdw>
          </a:effectLst>
        </p:spPr>
        <p:txBody>
          <a:bodyPr lIns="90000" rIns="90000" tIns="45000" bIns="45000" anchor="t">
            <a:noAutofit/>
          </a:bodyPr>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Numerical Simulations (Monte-carlo, PDEs, ML/AI, GPU computing ...) </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Probability Theory</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PDEs</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Asymptotic Methods ( matched expansions, boundary layer, renormalization group ...)</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 </a:t>
            </a:r>
            <a:r>
              <a:rPr b="0" lang="en-GB" sz="2000" spc="-1" strike="noStrike">
                <a:solidFill>
                  <a:srgbClr val="dadada"/>
                </a:solidFill>
                <a:latin typeface="Calisto MT"/>
              </a:rPr>
              <a:t>Stability theory</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838080" y="79200"/>
            <a:ext cx="10514880" cy="132480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Chaos is brickyard</a:t>
            </a:r>
            <a:endParaRPr b="0" lang="en-US" sz="4000" spc="-1" strike="noStrike">
              <a:latin typeface="Arial"/>
            </a:endParaRPr>
          </a:p>
        </p:txBody>
      </p:sp>
      <p:sp>
        <p:nvSpPr>
          <p:cNvPr id="172" name="PlaceHolder 2"/>
          <p:cNvSpPr>
            <a:spLocks noGrp="1"/>
          </p:cNvSpPr>
          <p:nvPr>
            <p:ph/>
          </p:nvPr>
        </p:nvSpPr>
        <p:spPr>
          <a:xfrm>
            <a:off x="762120" y="1690560"/>
            <a:ext cx="4018680" cy="4350600"/>
          </a:xfrm>
          <a:prstGeom prst="rect">
            <a:avLst/>
          </a:prstGeom>
          <a:noFill/>
          <a:ln w="0">
            <a:noFill/>
          </a:ln>
          <a:effectLst>
            <a:outerShdw dist="0" dir="0" blurRad="25560" rotWithShape="0">
              <a:srgbClr val="000000">
                <a:alpha val="46000"/>
              </a:srgbClr>
            </a:outerShdw>
          </a:effectLst>
        </p:spPr>
        <p:txBody>
          <a:bodyPr lIns="90000" rIns="90000" tIns="45000" bIns="45000" anchor="t">
            <a:noAutofit/>
          </a:bodyPr>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Q: How to make sense out of so much data ?</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Counter Q : how is it done in other parts of physics ?</a:t>
            </a:r>
            <a:endParaRPr b="0" lang="en-US" sz="2000" spc="-1" strike="noStrike">
              <a:latin typeface="Arial"/>
            </a:endParaRPr>
          </a:p>
        </p:txBody>
      </p:sp>
      <p:pic>
        <p:nvPicPr>
          <p:cNvPr id="173" name="Picture 3" descr=""/>
          <p:cNvPicPr/>
          <p:nvPr/>
        </p:nvPicPr>
        <p:blipFill>
          <a:blip r:embed="rId1"/>
          <a:stretch/>
        </p:blipFill>
        <p:spPr>
          <a:xfrm>
            <a:off x="5095800" y="1404720"/>
            <a:ext cx="6647760" cy="46450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914400" y="609480"/>
            <a:ext cx="9144360" cy="96984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What do want from you </a:t>
            </a:r>
            <a:endParaRPr b="0" lang="en-US" sz="4000" spc="-1" strike="noStrike">
              <a:latin typeface="Arial"/>
            </a:endParaRPr>
          </a:p>
        </p:txBody>
      </p:sp>
      <p:sp>
        <p:nvSpPr>
          <p:cNvPr id="175" name="PlaceHolder 2"/>
          <p:cNvSpPr>
            <a:spLocks noGrp="1"/>
          </p:cNvSpPr>
          <p:nvPr>
            <p:ph/>
          </p:nvPr>
        </p:nvSpPr>
        <p:spPr>
          <a:xfrm>
            <a:off x="914400" y="2286000"/>
            <a:ext cx="8915400" cy="2611080"/>
          </a:xfrm>
          <a:prstGeom prst="rect">
            <a:avLst/>
          </a:prstGeom>
          <a:noFill/>
          <a:ln w="0">
            <a:noFill/>
          </a:ln>
          <a:effectLst>
            <a:outerShdw dist="0" dir="0" blurRad="25560" rotWithShape="0">
              <a:srgbClr val="000000">
                <a:alpha val="46000"/>
              </a:srgbClr>
            </a:outerShdw>
          </a:effectLst>
        </p:spPr>
        <p:txBody>
          <a:bodyPr lIns="90000" rIns="90000" tIns="45000" bIns="45000" anchor="t">
            <a:noAutofit/>
          </a:bodyPr>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Unlimited curiosity</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Excellent work ethics</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Supriya’s course on stat mech. (SU students)</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Stat. Mech., Fluids courses for KTH students </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Computational Physics students welcome</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r>
              <a:rPr b="0" lang="en-GB" sz="2000" spc="-1" strike="noStrike">
                <a:solidFill>
                  <a:srgbClr val="dadada"/>
                </a:solidFill>
                <a:latin typeface="Calisto MT"/>
              </a:rPr>
              <a:t>Want to apply QFT/RG to soft matter problems ? Courses on path integrals and Feynman Diagrams either in QFT or Stat Mech</a:t>
            </a:r>
            <a:endParaRPr b="0" lang="en-US" sz="2000" spc="-1" strike="noStrike">
              <a:latin typeface="Arial"/>
            </a:endParaRPr>
          </a:p>
          <a:p>
            <a:pPr marL="343080" indent="-306000">
              <a:lnSpc>
                <a:spcPct val="100000"/>
              </a:lnSpc>
              <a:spcBef>
                <a:spcPts val="400"/>
              </a:spcBef>
              <a:spcAft>
                <a:spcPts val="601"/>
              </a:spcAft>
              <a:buClr>
                <a:srgbClr val="dadada"/>
              </a:buClr>
              <a:buSzPct val="70000"/>
              <a:buFont typeface="Wingdings 2" charset="2"/>
              <a:buChar char=""/>
            </a:pP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6" name="" descr=""/>
          <p:cNvPicPr/>
          <p:nvPr/>
        </p:nvPicPr>
        <p:blipFill>
          <a:blip r:embed="rId1"/>
          <a:stretch/>
        </p:blipFill>
        <p:spPr>
          <a:xfrm>
            <a:off x="1600200" y="848160"/>
            <a:ext cx="9941040" cy="5781240"/>
          </a:xfrm>
          <a:prstGeom prst="rect">
            <a:avLst/>
          </a:prstGeom>
          <a:ln w="0">
            <a:noFill/>
          </a:ln>
        </p:spPr>
      </p:pic>
      <p:sp>
        <p:nvSpPr>
          <p:cNvPr id="177" name="PlaceHolder 1"/>
          <p:cNvSpPr>
            <a:spLocks noGrp="1"/>
          </p:cNvSpPr>
          <p:nvPr>
            <p:ph type="title"/>
          </p:nvPr>
        </p:nvSpPr>
        <p:spPr>
          <a:xfrm>
            <a:off x="914040" y="-55440"/>
            <a:ext cx="9144360" cy="969840"/>
          </a:xfrm>
          <a:prstGeom prst="rect">
            <a:avLst/>
          </a:prstGeom>
          <a:noFill/>
          <a:ln w="0">
            <a:noFill/>
          </a:ln>
          <a:effectLst>
            <a:outerShdw dist="0" dir="0" blurRad="25560" rotWithShape="0">
              <a:srgbClr val="000000">
                <a:alpha val="46000"/>
              </a:srgbClr>
            </a:outerShdw>
          </a:effectLst>
        </p:spPr>
        <p:txBody>
          <a:bodyPr lIns="90000" rIns="90000" tIns="45000" bIns="45000" anchor="ctr">
            <a:noAutofit/>
          </a:bodyPr>
          <a:p>
            <a:pPr algn="ctr">
              <a:lnSpc>
                <a:spcPct val="100000"/>
              </a:lnSpc>
              <a:buNone/>
            </a:pPr>
            <a:r>
              <a:rPr b="0" lang="en-GB" sz="4000" spc="-1" strike="noStrike">
                <a:solidFill>
                  <a:srgbClr val="dadada"/>
                </a:solidFill>
                <a:latin typeface="Georgia"/>
              </a:rPr>
              <a:t>Pijush Patra </a:t>
            </a: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8" name="" descr=""/>
          <p:cNvPicPr/>
          <p:nvPr/>
        </p:nvPicPr>
        <p:blipFill>
          <a:blip r:embed="rId1"/>
          <a:stretch/>
        </p:blipFill>
        <p:spPr>
          <a:xfrm>
            <a:off x="2143080" y="95760"/>
            <a:ext cx="8677080" cy="653364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TM04033929[[fn=Slate]]</Template>
  <TotalTime>32637</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2023-08-24T08:29:43Z</dcterms:created>
  <dc:creator>Dhrubaditya Mitra</dc:creator>
  <dc:description/>
  <dc:language>en-US</dc:language>
  <cp:lastModifiedBy/>
  <dcterms:modified xsi:type="dcterms:W3CDTF">2026-09-25T12:17:24Z</dcterms:modified>
  <cp:revision>173</cp:revision>
  <dc:subject/>
  <dc:title>Nonlinearities across scales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r8>33</vt:r8>
  </property>
</Properties>
</file>